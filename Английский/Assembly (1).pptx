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12.svg" ContentType="image/svg+xml"/>
  <Override PartName="/ppt/media/image13.webp" ContentType="image/webp"/>
  <Override PartName="/ppt/media/image16.webp" ContentType="image/webp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68" r:id="rId6"/>
    <p:sldId id="269" r:id="rId7"/>
    <p:sldId id="270" r:id="rId8"/>
    <p:sldId id="257" r:id="rId9"/>
    <p:sldId id="258" r:id="rId10"/>
    <p:sldId id="259" r:id="rId11"/>
    <p:sldId id="260" r:id="rId12"/>
    <p:sldId id="261" r:id="rId13"/>
    <p:sldId id="265" r:id="rId14"/>
  </p:sldIdLst>
  <p:sldSz cx="18288000" cy="10287000"/>
  <p:notesSz cx="6858000" cy="9144000"/>
  <p:embeddedFontLst>
    <p:embeddedFont>
      <p:font typeface="DM Sans"/>
      <p:regular r:id="rId18"/>
    </p:embeddedFont>
    <p:embeddedFont>
      <p:font typeface="DM Sans Bold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4" d="100"/>
          <a:sy n="54" d="100"/>
        </p:scale>
        <p:origin x="754" y="58"/>
      </p:cViewPr>
      <p:guideLst>
        <p:guide orient="horz" pos="2232"/>
        <p:guide pos="28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webp"/><Relationship Id="rId2" Type="http://schemas.openxmlformats.org/officeDocument/2006/relationships/image" Target="../media/image12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webp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6.sv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943600" y="952500"/>
            <a:ext cx="5928360" cy="1636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760"/>
              </a:lnSpc>
            </a:pPr>
            <a:r>
              <a:rPr lang="en-US" altLang="ru-RU" sz="9115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Assembly</a:t>
            </a:r>
            <a:endParaRPr lang="en-US" altLang="ru-RU" sz="9115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245586" y="8416607"/>
            <a:ext cx="4894994" cy="166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Makar Korjenevskiq</a:t>
            </a:r>
            <a:endParaRPr lang="en-US" sz="31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340"/>
              </a:lnSpc>
            </a:pPr>
            <a:r>
              <a:rPr lang="en-US" sz="31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Group: 594-2</a:t>
            </a:r>
            <a:endParaRPr lang="en-US" sz="31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340"/>
              </a:lnSpc>
            </a:pPr>
            <a:endParaRPr lang="en-US" sz="31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Freeform 2"/>
          <p:cNvSpPr/>
          <p:nvPr/>
        </p:nvSpPr>
        <p:spPr>
          <a:xfrm>
            <a:off x="-380895" y="-689599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ru-RU" altLang="en-US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791200" y="2588895"/>
            <a:ext cx="638492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sz="4000" i="0">
                <a:solidFill>
                  <a:schemeClr val="tx1"/>
                </a:solidFill>
                <a:latin typeface="quote-cjk-patch"/>
                <a:ea typeface="quote-cjk-patch"/>
              </a:rPr>
              <a:t>The language that talks directly to the CPU</a:t>
            </a:r>
            <a:endParaRPr sz="400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pic>
        <p:nvPicPr>
          <p:cNvPr id="7" name="Изображение 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0620" y="3848100"/>
            <a:ext cx="5826125" cy="5826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Freeform 2"/>
          <p:cNvSpPr/>
          <p:nvPr/>
        </p:nvSpPr>
        <p:spPr>
          <a:xfrm>
            <a:off x="-152295" y="-6590560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2000" y="1257454"/>
            <a:ext cx="7072639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Glossary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9753600" y="3238770"/>
            <a:ext cx="8437124" cy="4847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indent="0" algn="just">
              <a:lnSpc>
                <a:spcPts val="4200"/>
              </a:lnSpc>
              <a:buNone/>
            </a:pPr>
            <a:r>
              <a:rPr lang="en-US" altLang="ru-RU" sz="3600" b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Register</a:t>
            </a:r>
            <a:endParaRPr lang="en-US" altLang="ru-RU" sz="3600" b="1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An extremely fast memory cell inside the processor</a:t>
            </a:r>
            <a:r>
              <a:rPr lang="ru-RU" altLang="en-US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600" b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Machine code</a:t>
            </a:r>
            <a:endParaRPr lang="en-US" altLang="ru-RU" sz="3600" b="1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set of zeros and ones that the CPU executes directly.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600" b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Microcontroller</a:t>
            </a:r>
            <a:endParaRPr lang="en-US" altLang="ru-RU" sz="3600" b="1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small computer on a single chip (in watches, remotes, sensors).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838200" y="3162570"/>
            <a:ext cx="8437124" cy="646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indent="0" algn="just">
              <a:lnSpc>
                <a:spcPts val="4200"/>
              </a:lnSpc>
              <a:buNone/>
            </a:pPr>
            <a:r>
              <a:rPr lang="en-US" altLang="ru-RU" sz="3600" b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Processor / CPU</a:t>
            </a:r>
            <a:endParaRPr lang="en-US" altLang="ru-RU" sz="3600" b="1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Central Processing Unit — the "brain" of the computer.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600" b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Low-level language</a:t>
            </a:r>
            <a:endParaRPr lang="en-US" altLang="ru-RU" sz="3600" b="1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language close to machine code, with minimal abstractions.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600" b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High-level language</a:t>
            </a:r>
            <a:endParaRPr lang="en-US" altLang="ru-RU" sz="3600" b="1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language with abstractions (Python, Java, C++), far from the processor.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600" b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Instruction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algn="just">
              <a:lnSpc>
                <a:spcPts val="4200"/>
              </a:lnSpc>
              <a:buNone/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single command to the CPU (e.g., MOV, ADD, JMP).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Замещающий 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15468600" y="9410700"/>
            <a:ext cx="2133600" cy="365125"/>
          </a:xfrm>
        </p:spPr>
        <p:txBody>
          <a:bodyPr/>
          <a:p>
            <a:r>
              <a:rPr lang="en-US" sz="3200" b="1" smtClean="0"/>
              <a:t>Page </a:t>
            </a:r>
            <a:fld id="{B6F15528-21DE-4FAA-801E-634DDDAF4B2B}" type="slidenum">
              <a:rPr lang="en-US" sz="3200" b="1" smtClean="0"/>
            </a:fld>
            <a:endParaRPr lang="en-US" sz="3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695" y="-4837960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US" altLang="ru-RU"/>
          </a:p>
        </p:txBody>
      </p:sp>
      <p:sp>
        <p:nvSpPr>
          <p:cNvPr id="4" name="TextBox 4"/>
          <p:cNvSpPr txBox="1"/>
          <p:nvPr/>
        </p:nvSpPr>
        <p:spPr>
          <a:xfrm>
            <a:off x="1272540" y="723900"/>
            <a:ext cx="1574228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Assembly Language: Current Status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53000" y="2049145"/>
            <a:ext cx="8165465" cy="2693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Definition: Low-level programming language.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Direct hardware manipulation capabilities.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Critical for embedded systems today.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5316200" y="9410700"/>
            <a:ext cx="2133600" cy="365125"/>
          </a:xfrm>
        </p:spPr>
        <p:txBody>
          <a:bodyPr/>
          <a:p>
            <a:r>
              <a:rPr lang="en-US" sz="3200" b="1" smtClean="0"/>
              <a:t>Page </a:t>
            </a:r>
            <a:fld id="{B6F15528-21DE-4FAA-801E-634DDDAF4B2B}" type="slidenum">
              <a:rPr lang="en-US" sz="3200" b="1" smtClean="0"/>
            </a:fld>
            <a:endParaRPr lang="en-US" sz="3200" b="1" smtClean="0"/>
          </a:p>
        </p:txBody>
      </p:sp>
      <p:pic>
        <p:nvPicPr>
          <p:cNvPr id="10" name="Изображение 9"/>
          <p:cNvPicPr/>
          <p:nvPr/>
        </p:nvPicPr>
        <p:blipFill>
          <a:blip r:embed="rId3"/>
          <a:stretch>
            <a:fillRect/>
          </a:stretch>
        </p:blipFill>
        <p:spPr>
          <a:xfrm>
            <a:off x="3053715" y="4991100"/>
            <a:ext cx="11964035" cy="5127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US" altLang="ru-RU"/>
          </a:p>
        </p:txBody>
      </p:sp>
      <p:sp>
        <p:nvSpPr>
          <p:cNvPr id="4" name="TextBox 4"/>
          <p:cNvSpPr txBox="1"/>
          <p:nvPr/>
        </p:nvSpPr>
        <p:spPr>
          <a:xfrm>
            <a:off x="1272540" y="723900"/>
            <a:ext cx="1574228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Usage Statistics &amp; Demographics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1000" y="3086100"/>
            <a:ext cx="6739255" cy="4847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Primary sector: Embedded systems engineering.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Secondary sector: Operating system kernels.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15% of developers use it regularly.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Data from global developer surveys.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5316200" y="9410700"/>
            <a:ext cx="2133600" cy="365125"/>
          </a:xfrm>
        </p:spPr>
        <p:txBody>
          <a:bodyPr/>
          <a:p>
            <a:r>
              <a:rPr lang="en-US" sz="3200" b="1" smtClean="0"/>
              <a:t>Page </a:t>
            </a:r>
            <a:fld id="{B6F15528-21DE-4FAA-801E-634DDDAF4B2B}" type="slidenum">
              <a:rPr lang="en-US" sz="3200" b="1" smtClean="0"/>
            </a:fld>
            <a:endParaRPr lang="en-US" sz="3200" b="1" smtClean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009900"/>
            <a:ext cx="10674350" cy="595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US" altLang="ru-RU"/>
          </a:p>
        </p:txBody>
      </p:sp>
      <p:sp>
        <p:nvSpPr>
          <p:cNvPr id="4" name="TextBox 4"/>
          <p:cNvSpPr txBox="1"/>
          <p:nvPr/>
        </p:nvSpPr>
        <p:spPr>
          <a:xfrm>
            <a:off x="1272540" y="723900"/>
            <a:ext cx="1574228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Assembly Language: Current Status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363200" y="3009900"/>
            <a:ext cx="6739255" cy="323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Assembly used by 5.4% of developers.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Ranked below C, Rust, Go.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Higher than Ruby, Dart, Lua.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5316200" y="9410700"/>
            <a:ext cx="2133600" cy="365125"/>
          </a:xfrm>
        </p:spPr>
        <p:txBody>
          <a:bodyPr/>
          <a:p>
            <a:r>
              <a:rPr lang="en-US" sz="3200" b="1" smtClean="0"/>
              <a:t>Page </a:t>
            </a:r>
            <a:fld id="{B6F15528-21DE-4FAA-801E-634DDDAF4B2B}" type="slidenum">
              <a:rPr lang="en-US" sz="3200" b="1" smtClean="0"/>
            </a:fld>
            <a:endParaRPr lang="en-US" sz="3200" b="1" smtClean="0"/>
          </a:p>
        </p:txBody>
      </p:sp>
      <p:pic>
        <p:nvPicPr>
          <p:cNvPr id="8" name="Изображение 7"/>
          <p:cNvPicPr/>
          <p:nvPr/>
        </p:nvPicPr>
        <p:blipFill>
          <a:blip r:embed="rId3"/>
          <a:stretch>
            <a:fillRect/>
          </a:stretch>
        </p:blipFill>
        <p:spPr>
          <a:xfrm>
            <a:off x="1752600" y="1866900"/>
            <a:ext cx="7966710" cy="8286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lang="en-US" altLang="ru-RU"/>
              <a:t>yjhttps://www.google.com/imgres?q=What%20is%20Assembly%3F&amp;imgurl=https%3A%2F%2Fwww.investopedia.com%2Fthmb%2FiQF7e3NvVbuc4CQMaFS-ieWX4Nw%3D%2F1500x0%2Ffilters%3Ano_upscale()%3Amax_bytes(150000)%3Astrip_icc()%2Fassembly-language.asp-final-664011aa8a8d4774ab6538e594961475.png&amp;imgrefurl=https%3A%2F%2Fwww.investopedia.com%2Fterms%2Fa%2Fassembly-language.asp&amp;docid=zHUZuOfMRSt2KM&amp;tbnid=eAOfxHIEHQyJzM&amp;vet=12ahUKEwi46v6U_9yTAxWjFVkFHcxUK9IQnPAOegQIHBAB..i&amp;w=1500&amp;h=1013&amp;hcb=2&amp;ved=2ahUKEwi46v6U_9yTAxWjFVkFHcxUK9IQnPAOegQIHBAB</a:t>
            </a:r>
            <a:endParaRPr lang="en-US" altLang="ru-RU"/>
          </a:p>
        </p:txBody>
      </p:sp>
      <p:sp>
        <p:nvSpPr>
          <p:cNvPr id="4" name="TextBox 4"/>
          <p:cNvSpPr txBox="1"/>
          <p:nvPr/>
        </p:nvSpPr>
        <p:spPr>
          <a:xfrm>
            <a:off x="1028700" y="2051204"/>
            <a:ext cx="7072639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is Assembly?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52600" y="4381770"/>
            <a:ext cx="8437124" cy="2693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Low-level programming language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One instruction = one CPU operation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200"/>
              </a:lnSpc>
            </a:pPr>
            <a:r>
              <a:rPr lang="en-US" altLang="ru-RU" sz="3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Full control over memory and registers</a:t>
            </a:r>
            <a:endParaRPr lang="en-US" altLang="ru-RU" sz="3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5316200" y="9410700"/>
            <a:ext cx="2133600" cy="365125"/>
          </a:xfrm>
        </p:spPr>
        <p:txBody>
          <a:bodyPr/>
          <a:p>
            <a:r>
              <a:rPr lang="en-US" sz="3200" b="1" smtClean="0"/>
              <a:t>Page </a:t>
            </a:r>
            <a:fld id="{B6F15528-21DE-4FAA-801E-634DDDAF4B2B}" type="slidenum">
              <a:rPr lang="en-US" sz="3200" b="1" smtClean="0"/>
            </a:fld>
            <a:endParaRPr lang="en-US" sz="3200" b="1" smtClean="0"/>
          </a:p>
        </p:txBody>
      </p:sp>
      <p:pic>
        <p:nvPicPr>
          <p:cNvPr id="8" name="Изображение 7" descr="assembly-language.asp-final-664011aa8a8d4774ab6538e5949614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733675"/>
            <a:ext cx="8869045" cy="5989320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19307" y="1677822"/>
            <a:ext cx="12846661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Key Advantages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25440" y="3543300"/>
            <a:ext cx="7437120" cy="452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just">
              <a:lnSpc>
                <a:spcPts val="3920"/>
              </a:lnSpc>
              <a:buAutoNum type="arabicPeriod"/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Maximum execution speed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42950" indent="-742950" algn="just">
              <a:lnSpc>
                <a:spcPts val="3920"/>
              </a:lnSpc>
              <a:buAutoNum type="arabicPeriod"/>
            </a:pP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42950" indent="-742950" algn="just">
              <a:lnSpc>
                <a:spcPts val="3920"/>
              </a:lnSpc>
              <a:buAutoNum type="arabicPeriod"/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Minimal program size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42950" indent="-742950" algn="just">
              <a:lnSpc>
                <a:spcPts val="3920"/>
              </a:lnSpc>
              <a:buAutoNum type="arabicPeriod"/>
            </a:pP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42950" indent="-742950" algn="just">
              <a:lnSpc>
                <a:spcPts val="3920"/>
              </a:lnSpc>
              <a:buAutoNum type="arabicPeriod"/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Perfect for devices with very small memory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42950" indent="-742950" algn="just">
              <a:lnSpc>
                <a:spcPts val="3920"/>
              </a:lnSpc>
              <a:buAutoNum type="arabicPeriod"/>
            </a:pP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42950" indent="-742950" algn="just">
              <a:lnSpc>
                <a:spcPts val="3920"/>
              </a:lnSpc>
              <a:buAutoNum type="arabicPeriod"/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(watches, remote controls, sensors)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965968" y="9210675"/>
            <a:ext cx="1293332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</a:t>
            </a:r>
            <a:r>
              <a:rPr lang="ru-RU" altLang="en-US" sz="24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  <a:endParaRPr lang="ru-RU" altLang="en-US" sz="2400" b="1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0" name="Замещающий 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85694" y="733425"/>
            <a:ext cx="12116612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Key Disadvantages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50414" y="2628827"/>
            <a:ext cx="12559130" cy="201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ctr">
              <a:lnSpc>
                <a:spcPts val="3920"/>
              </a:lnSpc>
              <a:buAutoNum type="arabicPeriod"/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Very hard to learn and use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4350" indent="-514350" algn="ctr">
              <a:lnSpc>
                <a:spcPts val="3920"/>
              </a:lnSpc>
              <a:buAutoNum type="arabicPeriod"/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Slow </a:t>
            </a:r>
            <a:r>
              <a:rPr lang="en-US" altLang="ru-RU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development </a:t>
            </a: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(brick by brick)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4350" indent="-514350" algn="ctr">
              <a:lnSpc>
                <a:spcPts val="3920"/>
              </a:lnSpc>
              <a:buAutoNum type="arabicPeriod"/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Code for one CPU does not work on another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4350" indent="-514350" algn="ctr">
              <a:lnSpc>
                <a:spcPts val="3920"/>
              </a:lnSpc>
              <a:buAutoNum type="arabicPeriod"/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Expensive to maintain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921722" y="9210675"/>
            <a:ext cx="1337578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</a:t>
            </a:r>
            <a:r>
              <a:rPr lang="ru-RU" altLang="en-US" sz="24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  <a:endParaRPr lang="ru-RU" altLang="en-US" sz="2400" b="1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Изображение 7"/>
          <p:cNvPicPr/>
          <p:nvPr/>
        </p:nvPicPr>
        <p:blipFill>
          <a:blip r:embed="rId3"/>
          <a:stretch>
            <a:fillRect/>
          </a:stretch>
        </p:blipFill>
        <p:spPr>
          <a:xfrm>
            <a:off x="6761480" y="4914900"/>
            <a:ext cx="4765040" cy="4866005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71720" y="1430172"/>
            <a:ext cx="7559338" cy="21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Where is Assembly used?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032336" y="9214449"/>
            <a:ext cx="1226964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</a:t>
            </a:r>
            <a:r>
              <a:rPr lang="ru-RU" altLang="en-US" sz="24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6</a:t>
            </a:r>
            <a:endParaRPr lang="ru-RU" altLang="en-US" sz="2400" b="1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41045" y="3883660"/>
            <a:ext cx="11912600" cy="1508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altLang="ru-RU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Device drivers</a:t>
            </a:r>
            <a:r>
              <a:rPr lang="ru-RU" altLang="en-US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altLang="ru-RU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Microcontrollers and embedded systems</a:t>
            </a:r>
            <a:r>
              <a:rPr lang="ru-RU" altLang="en-US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altLang="ru-RU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Operating system bootloaders</a:t>
            </a:r>
            <a:r>
              <a:rPr lang="ru-RU" altLang="en-US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altLang="ru-RU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Cryptography</a:t>
            </a:r>
            <a:r>
              <a:rPr lang="ru-RU" altLang="en-US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altLang="ru-RU" sz="32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Game emulators and retro consoles</a:t>
            </a:r>
            <a:endParaRPr lang="en-US" altLang="ru-RU" sz="32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" name="Изображение 8"/>
          <p:cNvPicPr/>
          <p:nvPr/>
        </p:nvPicPr>
        <p:blipFill>
          <a:blip r:embed="rId3"/>
          <a:stretch>
            <a:fillRect/>
          </a:stretch>
        </p:blipFill>
        <p:spPr>
          <a:xfrm>
            <a:off x="4876800" y="4991100"/>
            <a:ext cx="8563610" cy="4998085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37661" y="-4609818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90645" y="1521272"/>
            <a:ext cx="14063409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altLang="ru-RU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Conclusion</a:t>
            </a:r>
            <a:endParaRPr lang="en-US" altLang="ru-RU" sz="600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054459" y="9210675"/>
            <a:ext cx="1204841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</a:t>
            </a:r>
            <a:r>
              <a:rPr lang="ru-RU" altLang="en-US" sz="24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7</a:t>
            </a:r>
            <a:endParaRPr lang="ru-RU" altLang="en-US" sz="2400" b="1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95400" y="3619500"/>
            <a:ext cx="9704705" cy="18567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ts val="3360"/>
              </a:lnSpc>
            </a:pP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Assembly is a powerful tool for experts.</a:t>
            </a:r>
            <a:r>
              <a:rPr lang="ru-RU" altLang="en-US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It is used where speed and size matter most.</a:t>
            </a:r>
            <a:r>
              <a:rPr lang="ru-RU" altLang="en-US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altLang="ru-RU" sz="360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Knowing Assembly means truly understanding how computers work.</a:t>
            </a:r>
            <a:endParaRPr lang="en-US" altLang="ru-RU" sz="3600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" name="Замещающий 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reeform 3"/>
          <p:cNvSpPr/>
          <p:nvPr/>
        </p:nvSpPr>
        <p:spPr>
          <a:xfrm>
            <a:off x="11810724" y="2171817"/>
            <a:ext cx="6034097" cy="6718124"/>
          </a:xfrm>
          <a:custGeom>
            <a:avLst/>
            <a:gdLst/>
            <a:ahLst/>
            <a:cxnLst/>
            <a:rect l="l" t="t" r="r" b="b"/>
            <a:pathLst>
              <a:path w="6034097" h="6718124">
                <a:moveTo>
                  <a:pt x="0" y="0"/>
                </a:moveTo>
                <a:lnTo>
                  <a:pt x="6034097" y="0"/>
                </a:lnTo>
                <a:lnTo>
                  <a:pt x="6034097" y="6718124"/>
                </a:lnTo>
                <a:lnTo>
                  <a:pt x="0" y="6718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329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3983" y="3152569"/>
            <a:ext cx="16420035" cy="387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10"/>
              </a:lnSpc>
            </a:pPr>
            <a:r>
              <a:rPr lang="en-US" sz="1936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  <a:endParaRPr lang="en-US" sz="19360" b="1">
              <a:solidFill>
                <a:srgbClr val="343434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4" name="Freeform 4"/>
          <p:cNvSpPr/>
          <p:nvPr/>
        </p:nvSpPr>
        <p:spPr>
          <a:xfrm rot="-1354446">
            <a:off x="15843106" y="2606653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885027">
            <a:off x="5092713" y="2195823"/>
            <a:ext cx="2206219" cy="1740908"/>
          </a:xfrm>
          <a:custGeom>
            <a:avLst/>
            <a:gdLst/>
            <a:ahLst/>
            <a:cxnLst/>
            <a:rect l="l" t="t" r="r" b="b"/>
            <a:pathLst>
              <a:path w="2206219" h="1740908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91839" y="8205407"/>
            <a:ext cx="4202073" cy="2521244"/>
          </a:xfrm>
          <a:custGeom>
            <a:avLst/>
            <a:gdLst/>
            <a:ahLst/>
            <a:cxnLst/>
            <a:rect l="l" t="t" r="r" b="b"/>
            <a:pathLst>
              <a:path w="4202073" h="2521244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839221">
            <a:off x="9785300" y="7617346"/>
            <a:ext cx="1170380" cy="2030628"/>
          </a:xfrm>
          <a:custGeom>
            <a:avLst/>
            <a:gdLst/>
            <a:ahLst/>
            <a:cxnLst/>
            <a:rect l="l" t="t" r="r" b="b"/>
            <a:pathLst>
              <a:path w="1170380" h="2030628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16076581" y="9239335"/>
            <a:ext cx="1182719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</a:t>
            </a:r>
            <a:r>
              <a:rPr lang="ru-RU" altLang="en-US" sz="2400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  <a:endParaRPr lang="ru-RU" altLang="en-US" sz="2400" b="1" dirty="0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2361</Words>
  <Application>WPS Presentation</Application>
  <PresentationFormat>Произвольный</PresentationFormat>
  <Paragraphs>117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Cooper Hewitt Bold</vt:lpstr>
      <vt:lpstr>Segoe Print</vt:lpstr>
      <vt:lpstr>DM Sans</vt:lpstr>
      <vt:lpstr>quote-cjk-patch</vt:lpstr>
      <vt:lpstr>DM Sans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Sergey Brin and His Algorithms</dc:title>
  <dc:creator/>
  <cp:lastModifiedBy>Admin</cp:lastModifiedBy>
  <cp:revision>13</cp:revision>
  <dcterms:created xsi:type="dcterms:W3CDTF">2006-08-16T00:00:00Z</dcterms:created>
  <dcterms:modified xsi:type="dcterms:W3CDTF">2026-04-22T00:24:37Z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27E7894A879B4865930813BCD633A083_12</vt:lpwstr>
  </property>
  <property fmtid="{D5CDD505-2E9C-101B-9397-08002B2CF9AE}" pid="3" name="KSOProductBuildVer">
    <vt:lpwstr>1049-12.1.0.25242</vt:lpwstr>
  </property>
</Properties>
</file>